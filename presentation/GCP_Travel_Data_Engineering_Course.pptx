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BUILD • DEPLOY • AUTOMATE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/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01</a:t>
            </a:r>
            <a:endParaRPr lang="en-US" sz="900"/>
          </a:p>
        </p:txBody>
      </p:sp>
      <p:sp>
        <p:nvSpPr>
          <p:cNvPr id="9" name="Text 9"/>
          <p:cNvSpPr txBox="1"/>
          <p:nvPr/>
        </p:nvSpPr>
        <p:spPr>
          <a:xfrm>
            <a:off x="658368" y="1097280"/>
            <a:ext cx="694944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  <a:latin typeface="Arial"/>
              </a:rPr>
              <a:t>GCP Travel Data</a:t>
            </a:r>
            <a:endParaRPr lang="en-US" sz="3600"/>
          </a:p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  <a:latin typeface="Arial"/>
              </a:rPr>
              <a:t>Ingestion Platform</a:t>
            </a:r>
            <a:endParaRPr lang="en-US" sz="3600"/>
          </a:p>
        </p:txBody>
      </p:sp>
      <p:sp>
        <p:nvSpPr>
          <p:cNvPr id="10" name="Text 10"/>
          <p:cNvSpPr txBox="1"/>
          <p:nvPr/>
        </p:nvSpPr>
        <p:spPr>
          <a:xfrm>
            <a:off x="685800" y="269748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900">
                <a:solidFill>
                  <a:srgbClr val="E8F0FE"/>
                </a:solidFill>
                <a:latin typeface="Arial"/>
              </a:rPr>
              <a:t>A production-style Data Engineering project—built live, end to end.</a:t>
            </a:r>
            <a:endParaRPr lang="en-US" sz="1900"/>
          </a:p>
        </p:txBody>
      </p:sp>
      <p:sp>
        <p:nvSpPr>
          <p:cNvPr id="11" name="Shape 11"/>
          <p:cNvSpPr/>
          <p:nvPr/>
        </p:nvSpPr>
        <p:spPr>
          <a:xfrm>
            <a:off x="685800" y="3429000"/>
            <a:ext cx="3291840" cy="5669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96112" y="352958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ENROLL &amp; BUILD WITH ME  →</a:t>
            </a: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7635240" y="1572768"/>
            <a:ext cx="1572768" cy="1033271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635240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500" b="1">
                <a:solidFill>
                  <a:srgbClr val="4285F4"/>
                </a:solidFill>
                <a:latin typeface="Arial"/>
              </a:rPr>
              <a:t>GCS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9509759" y="1572768"/>
            <a:ext cx="1572768" cy="1033271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509759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500" b="1">
                <a:solidFill>
                  <a:srgbClr val="34A853"/>
                </a:solidFill>
                <a:latin typeface="Arial"/>
              </a:rPr>
              <a:t>Cloud Run</a:t>
            </a:r>
            <a:endParaRPr lang="en-US" sz="1500"/>
          </a:p>
        </p:txBody>
      </p:sp>
      <p:sp>
        <p:nvSpPr>
          <p:cNvPr id="17" name="Shape 17"/>
          <p:cNvSpPr/>
          <p:nvPr/>
        </p:nvSpPr>
        <p:spPr>
          <a:xfrm>
            <a:off x="7635240" y="2990088"/>
            <a:ext cx="1572768" cy="1033271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635240" y="333756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500" b="1">
                <a:solidFill>
                  <a:srgbClr val="FBBC04"/>
                </a:solidFill>
                <a:latin typeface="Arial"/>
              </a:rPr>
              <a:t>BigQuery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9509759" y="2990088"/>
            <a:ext cx="1572768" cy="1033271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EA4335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509759" y="333756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500" b="1">
                <a:solidFill>
                  <a:srgbClr val="EA4335"/>
                </a:solidFill>
                <a:latin typeface="Arial"/>
              </a:rPr>
              <a:t>Eventarc</a:t>
            </a:r>
            <a:endParaRPr lang="en-US" sz="1500"/>
          </a:p>
        </p:txBody>
      </p:sp>
      <p:sp>
        <p:nvSpPr>
          <p:cNvPr id="21" name="Text 21"/>
          <p:cNvSpPr txBox="1"/>
          <p:nvPr/>
        </p:nvSpPr>
        <p:spPr>
          <a:xfrm>
            <a:off x="685800" y="614476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AFC2D9"/>
                </a:solidFill>
                <a:latin typeface="Arial"/>
              </a:rPr>
              <a:t>YOUR NAME  •  YOUR COURSE / ENROLLMENT LINK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THE PROMISE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Not another toy tutorial.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02</a:t>
            </a:r>
            <a:endParaRPr lang="en-US" sz="900"/>
          </a:p>
        </p:txBody>
      </p:sp>
      <p:sp>
        <p:nvSpPr>
          <p:cNvPr id="9" name="Text 9"/>
          <p:cNvSpPr txBox="1"/>
          <p:nvPr/>
        </p:nvSpPr>
        <p:spPr>
          <a:xfrm>
            <a:off x="621792" y="164592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600" b="1">
                <a:solidFill>
                  <a:srgbClr val="FFFFFF"/>
                </a:solidFill>
                <a:latin typeface="Arial"/>
              </a:rPr>
              <a:t>Students build a system that behaves like a real company pipeline.</a:t>
            </a:r>
            <a:endParaRPr lang="en-US" sz="2600"/>
          </a:p>
        </p:txBody>
      </p:sp>
      <p:sp>
        <p:nvSpPr>
          <p:cNvPr id="10" name="Bullets 10"/>
          <p:cNvSpPr txBox="1"/>
          <p:nvPr/>
        </p:nvSpPr>
        <p:spPr>
          <a:xfrm>
            <a:off x="713232" y="2560320"/>
            <a:ext cx="585216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260000" indent="-180000"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</a:rPr>
              <a:t>Dirty daily CSV files—not perfect demo data</a:t>
            </a:r>
            <a:endParaRPr lang="en-US" sz="1800"/>
          </a:p>
          <a:p>
            <a:pPr algn="l" marL="260000" indent="-180000"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</a:rPr>
              <a:t>Validation, rejection reasons, lineage and audit</a:t>
            </a:r>
            <a:endParaRPr lang="en-US" sz="1800"/>
          </a:p>
          <a:p>
            <a:pPr algn="l" marL="260000" indent="-180000"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</a:rPr>
              <a:t>Idempotent BigQuery MERGE for safe replays</a:t>
            </a:r>
            <a:endParaRPr lang="en-US" sz="1800"/>
          </a:p>
          <a:p>
            <a:pPr algn="l" marL="260000" indent="-180000"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</a:rPr>
              <a:t>Cloud Run API + event-driven ingestion</a:t>
            </a:r>
            <a:endParaRPr lang="en-US" sz="1800"/>
          </a:p>
          <a:p>
            <a:pPr algn="l" marL="260000" indent="-180000"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</a:rPr>
              <a:t>IAM without service-account JSON keys</a:t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7543800" y="1828800"/>
            <a:ext cx="3611880" cy="33832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543800" y="1828800"/>
            <a:ext cx="73152" cy="3383280"/>
          </a:xfrm>
          <a:prstGeom prst="rect">
            <a:avLst/>
          </a:prstGeom>
          <a:solidFill>
            <a:srgbClr val="27C5E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799831" y="2011680"/>
            <a:ext cx="31729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27C5E8"/>
                </a:solidFill>
                <a:latin typeface="Arial"/>
              </a:rPr>
              <a:t>OUTCOME</a:t>
            </a:r>
            <a:endParaRPr lang="en-US" sz="900"/>
          </a:p>
        </p:txBody>
      </p:sp>
      <p:sp>
        <p:nvSpPr>
          <p:cNvPr id="14" name="Text 14"/>
          <p:cNvSpPr txBox="1"/>
          <p:nvPr/>
        </p:nvSpPr>
        <p:spPr>
          <a:xfrm>
            <a:off x="7799831" y="235915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Portfolio proof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7799831" y="2816352"/>
            <a:ext cx="3154680" cy="2240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A deployable repository, cloud architecture, live API, BigQuery tables, automation and interview-ready explanations.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WHY THIS PROJECT EXISTS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The business problem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03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40080" y="1691640"/>
            <a:ext cx="3383280" cy="33375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40080" y="1691640"/>
            <a:ext cx="73152" cy="333756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4285F4"/>
                </a:solidFill>
                <a:latin typeface="Arial"/>
              </a:rPr>
              <a:t>01 • LAND</a:t>
            </a:r>
            <a:endParaRPr lang="en-US" sz="900"/>
          </a:p>
        </p:txBody>
      </p:sp>
      <p:sp>
        <p:nvSpPr>
          <p:cNvPr id="12" name="Text 12"/>
          <p:cNvSpPr txBox="1"/>
          <p:nvPr/>
        </p:nvSpPr>
        <p:spPr>
          <a:xfrm>
            <a:off x="89611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Daily travel files</a:t>
            </a:r>
            <a:endParaRPr lang="en-US" sz="1800"/>
          </a:p>
        </p:txBody>
      </p:sp>
      <p:sp>
        <p:nvSpPr>
          <p:cNvPr id="13" name="Text 13"/>
          <p:cNvSpPr txBox="1"/>
          <p:nvPr/>
        </p:nvSpPr>
        <p:spPr>
          <a:xfrm>
            <a:off x="896112" y="2679192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Timestamped employee booking CSVs arrive with missing IDs, invalid dates, zero prices, mixed case and duplicates.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389120" y="1691640"/>
            <a:ext cx="3383280" cy="33375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89120" y="1691640"/>
            <a:ext cx="73152" cy="3337560"/>
          </a:xfrm>
          <a:prstGeom prst="rect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4515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FBBC04"/>
                </a:solidFill>
                <a:latin typeface="Arial"/>
              </a:rPr>
              <a:t>02 • TRUST</a:t>
            </a:r>
            <a:endParaRPr lang="en-US" sz="900"/>
          </a:p>
        </p:txBody>
      </p:sp>
      <p:sp>
        <p:nvSpPr>
          <p:cNvPr id="17" name="Text 17"/>
          <p:cNvSpPr txBox="1"/>
          <p:nvPr/>
        </p:nvSpPr>
        <p:spPr>
          <a:xfrm>
            <a:off x="464515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Protect analytics</a:t>
            </a:r>
            <a:endParaRPr lang="en-US" sz="1800"/>
          </a:p>
        </p:txBody>
      </p:sp>
      <p:sp>
        <p:nvSpPr>
          <p:cNvPr id="18" name="Text 18"/>
          <p:cNvSpPr txBox="1"/>
          <p:nvPr/>
        </p:nvSpPr>
        <p:spPr>
          <a:xfrm>
            <a:off x="4645152" y="2679192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Good rows must reach reporting. Bad rows need clear rejection reasons—not silent loss or a poisoned fact table.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138160" y="1691640"/>
            <a:ext cx="3383280" cy="33375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138160" y="1691640"/>
            <a:ext cx="73152" cy="333756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39419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34A853"/>
                </a:solidFill>
                <a:latin typeface="Arial"/>
              </a:rPr>
              <a:t>03 • PROVE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839419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Audit every run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8394192" y="2679192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Operations needs file name, execution ID, counts, duration and failure details for every ingestion attempt.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2000" b="1">
                <a:solidFill>
                  <a:srgbClr val="E8F0FE"/>
                </a:solidFill>
                <a:latin typeface="Arial"/>
              </a:rPr>
              <a:t>Raw files are easy. Trusted, replay-safe data is the engineering.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SYSTEM DESIGN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Architecture: one pipeline, two entry points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04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2148840"/>
            <a:ext cx="1691640" cy="13258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594360" y="245059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4285F4"/>
                </a:solidFill>
                <a:latin typeface="Arial"/>
              </a:rPr>
              <a:t>GCS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685800" y="288950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000">
                <a:solidFill>
                  <a:srgbClr val="AFC2D9"/>
                </a:solidFill>
                <a:latin typeface="Arial"/>
              </a:rPr>
              <a:t>incoming/*.csv</a:t>
            </a:r>
            <a:endParaRPr lang="en-US" sz="1000"/>
          </a:p>
        </p:txBody>
      </p:sp>
      <p:cxnSp>
        <p:nvCxnSpPr>
          <p:cNvPr id="12" name="Line 12"/>
          <p:cNvCxnSpPr/>
          <p:nvPr/>
        </p:nvCxnSpPr>
        <p:spPr>
          <a:xfrm>
            <a:off x="2313432" y="2816352"/>
            <a:ext cx="493776" cy="0"/>
          </a:xfrm>
          <a:prstGeom prst="line">
            <a:avLst/>
          </a:prstGeom>
          <a:ln w="25400">
            <a:solidFill>
              <a:srgbClr val="4285F4"/>
            </a:solidFill>
            <a:tailEnd type="none"/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2880360" y="2148840"/>
            <a:ext cx="1691640" cy="13258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EA4335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2880360" y="245059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EA4335"/>
                </a:solidFill>
                <a:latin typeface="Arial"/>
              </a:rPr>
              <a:t>Eventarc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2971800" y="288950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000">
                <a:solidFill>
                  <a:srgbClr val="AFC2D9"/>
                </a:solidFill>
                <a:latin typeface="Arial"/>
              </a:rPr>
              <a:t>object finalized</a:t>
            </a:r>
            <a:endParaRPr lang="en-US" sz="1000"/>
          </a:p>
        </p:txBody>
      </p:sp>
      <p:cxnSp>
        <p:nvCxnSpPr>
          <p:cNvPr id="16" name="Line 16"/>
          <p:cNvCxnSpPr/>
          <p:nvPr/>
        </p:nvCxnSpPr>
        <p:spPr>
          <a:xfrm>
            <a:off x="4599431" y="2816352"/>
            <a:ext cx="493776" cy="0"/>
          </a:xfrm>
          <a:prstGeom prst="line">
            <a:avLst/>
          </a:prstGeom>
          <a:ln w="25400">
            <a:solidFill>
              <a:srgbClr val="EA4335"/>
            </a:solidFill>
            <a:tailEnd type="none"/>
            <a:headEnd type="triangle"/>
          </a:ln>
        </p:spPr>
      </p:cxnSp>
      <p:sp>
        <p:nvSpPr>
          <p:cNvPr id="17" name="Shape 17"/>
          <p:cNvSpPr/>
          <p:nvPr/>
        </p:nvSpPr>
        <p:spPr>
          <a:xfrm>
            <a:off x="5166360" y="2148840"/>
            <a:ext cx="1691640" cy="13258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5166360" y="245059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34A853"/>
                </a:solidFill>
                <a:latin typeface="Arial"/>
              </a:rPr>
              <a:t>Cloud Run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5257800" y="288950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000">
                <a:solidFill>
                  <a:srgbClr val="AFC2D9"/>
                </a:solidFill>
                <a:latin typeface="Arial"/>
              </a:rPr>
              <a:t>/events or /load</a:t>
            </a:r>
            <a:endParaRPr lang="en-US" sz="1000"/>
          </a:p>
        </p:txBody>
      </p:sp>
      <p:cxnSp>
        <p:nvCxnSpPr>
          <p:cNvPr id="20" name="Line 20"/>
          <p:cNvCxnSpPr/>
          <p:nvPr/>
        </p:nvCxnSpPr>
        <p:spPr>
          <a:xfrm>
            <a:off x="6885432" y="2816352"/>
            <a:ext cx="493776" cy="0"/>
          </a:xfrm>
          <a:prstGeom prst="line">
            <a:avLst/>
          </a:prstGeom>
          <a:ln w="25400">
            <a:solidFill>
              <a:srgbClr val="34A853"/>
            </a:solidFill>
            <a:tailEnd type="none"/>
            <a:headEnd type="triangle"/>
          </a:ln>
        </p:spPr>
      </p:cxnSp>
      <p:sp>
        <p:nvSpPr>
          <p:cNvPr id="21" name="Shape 21"/>
          <p:cNvSpPr/>
          <p:nvPr/>
        </p:nvSpPr>
        <p:spPr>
          <a:xfrm>
            <a:off x="7452360" y="2148840"/>
            <a:ext cx="1691640" cy="13258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C5E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7452360" y="245059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27C5E8"/>
                </a:solidFill>
                <a:latin typeface="Arial"/>
              </a:rPr>
              <a:t>Python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7543800" y="288950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000">
                <a:solidFill>
                  <a:srgbClr val="AFC2D9"/>
                </a:solidFill>
                <a:latin typeface="Arial"/>
              </a:rPr>
              <a:t>validate • transform</a:t>
            </a:r>
            <a:endParaRPr lang="en-US" sz="1000"/>
          </a:p>
        </p:txBody>
      </p:sp>
      <p:cxnSp>
        <p:nvCxnSpPr>
          <p:cNvPr id="24" name="Line 24"/>
          <p:cNvCxnSpPr/>
          <p:nvPr/>
        </p:nvCxnSpPr>
        <p:spPr>
          <a:xfrm>
            <a:off x="9171432" y="2816352"/>
            <a:ext cx="493775" cy="0"/>
          </a:xfrm>
          <a:prstGeom prst="line">
            <a:avLst/>
          </a:prstGeom>
          <a:ln w="25400">
            <a:solidFill>
              <a:srgbClr val="27C5E8"/>
            </a:solidFill>
            <a:tailEnd type="none"/>
            <a:headEnd type="triangle"/>
          </a:ln>
        </p:spPr>
      </p:cxnSp>
      <p:sp>
        <p:nvSpPr>
          <p:cNvPr id="25" name="Shape 25"/>
          <p:cNvSpPr/>
          <p:nvPr/>
        </p:nvSpPr>
        <p:spPr>
          <a:xfrm>
            <a:off x="9738360" y="2148840"/>
            <a:ext cx="1691640" cy="13258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9738360" y="245059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BBC04"/>
                </a:solidFill>
                <a:latin typeface="Arial"/>
              </a:rPr>
              <a:t>BigQuery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9829800" y="288950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000">
                <a:solidFill>
                  <a:srgbClr val="AFC2D9"/>
                </a:solidFill>
                <a:latin typeface="Arial"/>
              </a:rPr>
              <a:t>MERGE • audit</a:t>
            </a:r>
            <a:endParaRPr lang="en-US" sz="1000"/>
          </a:p>
        </p:txBody>
      </p:sp>
      <p:sp>
        <p:nvSpPr>
          <p:cNvPr id="28" name="Shape 28"/>
          <p:cNvSpPr/>
          <p:nvPr/>
        </p:nvSpPr>
        <p:spPr>
          <a:xfrm>
            <a:off x="3657600" y="4251960"/>
            <a:ext cx="4846320" cy="77724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3840480" y="4498848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Manual: POST /load     •     Automated: POST /events</a:t>
            </a:r>
            <a:endParaRPr lang="en-US" sz="1400"/>
          </a:p>
        </p:txBody>
      </p:sp>
      <p:sp>
        <p:nvSpPr>
          <p:cNvPr id="30" name="Text 30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2000" b="1">
                <a:solidFill>
                  <a:srgbClr val="E8F0FE"/>
                </a:solidFill>
                <a:latin typeface="Arial"/>
              </a:rPr>
              <a:t>Same src.pipeline.run_pipeline. Only the caller changes.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CODE WALKTHROUGH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Under the hood: readable Python modules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05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1828800"/>
            <a:ext cx="1965960" cy="15544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58952" y="19933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4285F4"/>
                </a:solidFill>
                <a:latin typeface="Arial"/>
              </a:rPr>
              <a:t>01</a:t>
            </a:r>
            <a:endParaRPr lang="en-US" sz="1200"/>
          </a:p>
        </p:txBody>
      </p:sp>
      <p:sp>
        <p:nvSpPr>
          <p:cNvPr id="11" name="Text 11"/>
          <p:cNvSpPr txBox="1"/>
          <p:nvPr/>
        </p:nvSpPr>
        <p:spPr>
          <a:xfrm>
            <a:off x="758952" y="2450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gcs_reader.py</a:t>
            </a:r>
            <a:endParaRPr lang="en-US" sz="1300"/>
          </a:p>
        </p:txBody>
      </p:sp>
      <p:sp>
        <p:nvSpPr>
          <p:cNvPr id="12" name="Text 12"/>
          <p:cNvSpPr txBox="1"/>
          <p:nvPr/>
        </p:nvSpPr>
        <p:spPr>
          <a:xfrm>
            <a:off x="758952" y="28895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Read CSV</a:t>
            </a:r>
            <a:endParaRPr lang="en-US" sz="1100"/>
          </a:p>
        </p:txBody>
      </p:sp>
      <p:sp>
        <p:nvSpPr>
          <p:cNvPr id="13" name="Shape 13"/>
          <p:cNvSpPr/>
          <p:nvPr/>
        </p:nvSpPr>
        <p:spPr>
          <a:xfrm>
            <a:off x="2880360" y="1828800"/>
            <a:ext cx="1965960" cy="15544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EA4335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3044952" y="19933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EA4335"/>
                </a:solidFill>
                <a:latin typeface="Arial"/>
              </a:rPr>
              <a:t>02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3044952" y="2450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validator.py</a:t>
            </a:r>
            <a:endParaRPr lang="en-US" sz="1300"/>
          </a:p>
        </p:txBody>
      </p:sp>
      <p:sp>
        <p:nvSpPr>
          <p:cNvPr id="16" name="Text 16"/>
          <p:cNvSpPr txBox="1"/>
          <p:nvPr/>
        </p:nvSpPr>
        <p:spPr>
          <a:xfrm>
            <a:off x="3044952" y="28895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Trust rules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5166360" y="1828800"/>
            <a:ext cx="1965960" cy="15544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C5E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5330952" y="19933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27C5E8"/>
                </a:solidFill>
                <a:latin typeface="Arial"/>
              </a:rPr>
              <a:t>03</a:t>
            </a:r>
            <a:endParaRPr lang="en-US" sz="1200"/>
          </a:p>
        </p:txBody>
      </p:sp>
      <p:sp>
        <p:nvSpPr>
          <p:cNvPr id="19" name="Text 19"/>
          <p:cNvSpPr txBox="1"/>
          <p:nvPr/>
        </p:nvSpPr>
        <p:spPr>
          <a:xfrm>
            <a:off x="5330952" y="2450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transformer.py</a:t>
            </a:r>
            <a:endParaRPr lang="en-US" sz="1300"/>
          </a:p>
        </p:txBody>
      </p:sp>
      <p:sp>
        <p:nvSpPr>
          <p:cNvPr id="20" name="Text 20"/>
          <p:cNvSpPr txBox="1"/>
          <p:nvPr/>
        </p:nvSpPr>
        <p:spPr>
          <a:xfrm>
            <a:off x="5330952" y="28895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Standardize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7452360" y="1828800"/>
            <a:ext cx="1965960" cy="15544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7616952" y="19933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FBBC04"/>
                </a:solidFill>
                <a:latin typeface="Arial"/>
              </a:rPr>
              <a:t>04</a:t>
            </a:r>
            <a:endParaRPr lang="en-US" sz="1200"/>
          </a:p>
        </p:txBody>
      </p:sp>
      <p:sp>
        <p:nvSpPr>
          <p:cNvPr id="23" name="Text 23"/>
          <p:cNvSpPr txBox="1"/>
          <p:nvPr/>
        </p:nvSpPr>
        <p:spPr>
          <a:xfrm>
            <a:off x="7616952" y="2450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bigquery_loader.py</a:t>
            </a:r>
            <a:endParaRPr lang="en-US" sz="1300"/>
          </a:p>
        </p:txBody>
      </p:sp>
      <p:sp>
        <p:nvSpPr>
          <p:cNvPr id="24" name="Text 24"/>
          <p:cNvSpPr txBox="1"/>
          <p:nvPr/>
        </p:nvSpPr>
        <p:spPr>
          <a:xfrm>
            <a:off x="7616952" y="28895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Stage + MERGE</a:t>
            </a:r>
            <a:endParaRPr lang="en-US" sz="1100"/>
          </a:p>
        </p:txBody>
      </p:sp>
      <p:sp>
        <p:nvSpPr>
          <p:cNvPr id="25" name="Shape 25"/>
          <p:cNvSpPr/>
          <p:nvPr/>
        </p:nvSpPr>
        <p:spPr>
          <a:xfrm>
            <a:off x="9738360" y="1828800"/>
            <a:ext cx="1965960" cy="155448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9902952" y="19933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34A853"/>
                </a:solidFill>
                <a:latin typeface="Arial"/>
              </a:rPr>
              <a:t>05</a:t>
            </a:r>
            <a:endParaRPr lang="en-US" sz="1200"/>
          </a:p>
        </p:txBody>
      </p:sp>
      <p:sp>
        <p:nvSpPr>
          <p:cNvPr id="27" name="Text 27"/>
          <p:cNvSpPr txBox="1"/>
          <p:nvPr/>
        </p:nvSpPr>
        <p:spPr>
          <a:xfrm>
            <a:off x="9902952" y="2450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audit.py</a:t>
            </a:r>
            <a:endParaRPr lang="en-US" sz="1300"/>
          </a:p>
        </p:txBody>
      </p:sp>
      <p:sp>
        <p:nvSpPr>
          <p:cNvPr id="28" name="Text 28"/>
          <p:cNvSpPr txBox="1"/>
          <p:nvPr/>
        </p:nvSpPr>
        <p:spPr>
          <a:xfrm>
            <a:off x="9902952" y="28895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Prove the run</a:t>
            </a:r>
            <a:endParaRPr lang="en-US" sz="1100"/>
          </a:p>
        </p:txBody>
      </p:sp>
      <p:sp>
        <p:nvSpPr>
          <p:cNvPr id="29" name="Shape 29"/>
          <p:cNvSpPr/>
          <p:nvPr/>
        </p:nvSpPr>
        <p:spPr>
          <a:xfrm>
            <a:off x="1920240" y="4069080"/>
            <a:ext cx="8366760" cy="9601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C5E8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2212848" y="42793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600" b="1">
                <a:solidFill>
                  <a:srgbClr val="27C5E8"/>
                </a:solidFill>
                <a:latin typeface="Arial"/>
              </a:rPr>
              <a:t>src/pipeline.py</a:t>
            </a:r>
            <a:endParaRPr lang="en-US" sz="1600"/>
          </a:p>
        </p:txBody>
      </p:sp>
      <p:sp>
        <p:nvSpPr>
          <p:cNvPr id="31" name="Text 31"/>
          <p:cNvSpPr txBox="1"/>
          <p:nvPr/>
        </p:nvSpPr>
        <p:spPr>
          <a:xfrm>
            <a:off x="4114800" y="427939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700">
                <a:solidFill>
                  <a:srgbClr val="FFFFFF"/>
                </a:solidFill>
                <a:latin typeface="Arial"/>
              </a:rPr>
              <a:t>glues every module into run_pipeline()</a:t>
            </a:r>
            <a:endParaRPr lang="en-US" sz="1700"/>
          </a:p>
        </p:txBody>
      </p:sp>
      <p:sp>
        <p:nvSpPr>
          <p:cNvPr id="32" name="Text 32"/>
          <p:cNvSpPr txBox="1"/>
          <p:nvPr/>
        </p:nvSpPr>
        <p:spPr>
          <a:xfrm>
            <a:off x="914400" y="5504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>
                <a:solidFill>
                  <a:srgbClr val="E8F0FE"/>
                </a:solidFill>
                <a:latin typeface="Arial"/>
              </a:rPr>
              <a:t>Students test each module first—then watch automation call the same code.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VALIDATE • REJECT • EXPLAIN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Data quality you can see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06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40080" y="1737360"/>
            <a:ext cx="3383280" cy="342900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40080" y="1737360"/>
            <a:ext cx="73152" cy="342900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192024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34A853"/>
                </a:solidFill>
                <a:latin typeface="Arial"/>
              </a:rPr>
              <a:t>VALID</a:t>
            </a:r>
            <a:endParaRPr lang="en-US" sz="900"/>
          </a:p>
        </p:txBody>
      </p:sp>
      <p:sp>
        <p:nvSpPr>
          <p:cNvPr id="12" name="Text 12"/>
          <p:cNvSpPr txBox="1"/>
          <p:nvPr/>
        </p:nvSpPr>
        <p:spPr>
          <a:xfrm>
            <a:off x="896112" y="226771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286 records</a:t>
            </a:r>
            <a:endParaRPr lang="en-US" sz="1800"/>
          </a:p>
        </p:txBody>
      </p:sp>
      <p:sp>
        <p:nvSpPr>
          <p:cNvPr id="13" name="Text 13"/>
          <p:cNvSpPr txBox="1"/>
          <p:nvPr/>
        </p:nvSpPr>
        <p:spPr>
          <a:xfrm>
            <a:off x="896112" y="27249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Cleaned names and cities, uppercase status and currency, calculated travel duration, source file and execution lineage.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389120" y="1737360"/>
            <a:ext cx="3383280" cy="342900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89120" y="1737360"/>
            <a:ext cx="73152" cy="3429000"/>
          </a:xfrm>
          <a:prstGeom prst="rect">
            <a:avLst/>
          </a:prstGeom>
          <a:solidFill>
            <a:srgbClr val="EA4335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45152" y="192024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EA4335"/>
                </a:solidFill>
                <a:latin typeface="Arial"/>
              </a:rPr>
              <a:t>REJECTED</a:t>
            </a:r>
            <a:endParaRPr lang="en-US" sz="900"/>
          </a:p>
        </p:txBody>
      </p:sp>
      <p:sp>
        <p:nvSpPr>
          <p:cNvPr id="17" name="Text 17"/>
          <p:cNvSpPr txBox="1"/>
          <p:nvPr/>
        </p:nvSpPr>
        <p:spPr>
          <a:xfrm>
            <a:off x="4645152" y="226771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14 records</a:t>
            </a:r>
            <a:endParaRPr lang="en-US" sz="1800"/>
          </a:p>
        </p:txBody>
      </p:sp>
      <p:sp>
        <p:nvSpPr>
          <p:cNvPr id="18" name="Text 18"/>
          <p:cNvSpPr txBox="1"/>
          <p:nvPr/>
        </p:nvSpPr>
        <p:spPr>
          <a:xfrm>
            <a:off x="4645152" y="27249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Missing identifiers, duplicate booking IDs, invalid dates, non-positive fares and unsupported booking statuses.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138160" y="1737360"/>
            <a:ext cx="3383280" cy="342900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138160" y="1737360"/>
            <a:ext cx="73152" cy="3429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394192" y="192024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4285F4"/>
                </a:solidFill>
                <a:latin typeface="Arial"/>
              </a:rPr>
              <a:t>AUDITED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8394192" y="226771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Every execution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8394192" y="27249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Read / loaded / rejected counts, timing, status and error message—queryable in BigQuery.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1005840" y="5623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Bad data becomes teachable evidence—not a hidden failure.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PRODUCTION THINKING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Two automations. Two different jobs.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07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737360"/>
            <a:ext cx="5212080" cy="33375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005840" y="20574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27C5E8"/>
                </a:solidFill>
                <a:latin typeface="Arial"/>
              </a:rPr>
              <a:t>DATA AUTOMATION</a:t>
            </a:r>
            <a:endParaRPr lang="en-US" sz="1200"/>
          </a:p>
        </p:txBody>
      </p:sp>
      <p:sp>
        <p:nvSpPr>
          <p:cNvPr id="11" name="Text 11"/>
          <p:cNvSpPr txBox="1"/>
          <p:nvPr/>
        </p:nvSpPr>
        <p:spPr>
          <a:xfrm>
            <a:off x="1005840" y="26060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New CSV → Eventarc → /events</a:t>
            </a:r>
            <a:endParaRPr lang="en-US" sz="2200"/>
          </a:p>
        </p:txBody>
      </p:sp>
      <p:sp>
        <p:nvSpPr>
          <p:cNvPr id="12" name="Text 12"/>
          <p:cNvSpPr txBox="1"/>
          <p:nvPr/>
        </p:nvSpPr>
        <p:spPr>
          <a:xfrm>
            <a:off x="1005840" y="32461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>
                <a:solidFill>
                  <a:srgbClr val="AFC2D9"/>
                </a:solidFill>
                <a:latin typeface="Arial"/>
              </a:rPr>
              <a:t>Moves one object through validation and BigQuery.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6291072" y="1737360"/>
            <a:ext cx="5212080" cy="33375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611112" y="20574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 b="1">
                <a:solidFill>
                  <a:srgbClr val="34A853"/>
                </a:solidFill>
                <a:latin typeface="Arial"/>
              </a:rPr>
              <a:t>DEPLOY AUTOMATION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6611112" y="26060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git push → Build → Cloud Run</a:t>
            </a:r>
            <a:endParaRPr lang="en-US" sz="2200"/>
          </a:p>
        </p:txBody>
      </p:sp>
      <p:sp>
        <p:nvSpPr>
          <p:cNvPr id="16" name="Text 16"/>
          <p:cNvSpPr txBox="1"/>
          <p:nvPr/>
        </p:nvSpPr>
        <p:spPr>
          <a:xfrm>
            <a:off x="6611112" y="32461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>
                <a:solidFill>
                  <a:srgbClr val="AFC2D9"/>
                </a:solidFill>
                <a:latin typeface="Arial"/>
              </a:rPr>
              <a:t>Ships a new container revision. It does not ingest data.</a:t>
            </a:r>
            <a:endParaRPr lang="en-US" sz="1500"/>
          </a:p>
        </p:txBody>
      </p:sp>
      <p:sp>
        <p:nvSpPr>
          <p:cNvPr id="17" name="Text 17"/>
          <p:cNvSpPr txBox="1"/>
          <p:nvPr/>
        </p:nvSpPr>
        <p:spPr>
          <a:xfrm>
            <a:off x="1005840" y="553212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900" b="1">
                <a:solidFill>
                  <a:srgbClr val="E8F0FE"/>
                </a:solidFill>
                <a:latin typeface="Arial"/>
              </a:rPr>
              <a:t>Knowing the difference is an interview-level skill.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PROJECT RESULTS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Live proof—not slides-only theory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08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874519"/>
            <a:ext cx="2514600" cy="19659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658368" y="2240280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3600" b="1">
                <a:solidFill>
                  <a:srgbClr val="4285F4"/>
                </a:solidFill>
                <a:latin typeface="Arial"/>
              </a:rPr>
              <a:t>300</a:t>
            </a:r>
            <a:endParaRPr lang="en-US" sz="3600"/>
          </a:p>
        </p:txBody>
      </p:sp>
      <p:sp>
        <p:nvSpPr>
          <p:cNvPr id="11" name="Text 11"/>
          <p:cNvSpPr txBox="1"/>
          <p:nvPr/>
        </p:nvSpPr>
        <p:spPr>
          <a:xfrm>
            <a:off x="658368" y="31729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ROWS READ</a:t>
            </a:r>
            <a:endParaRPr lang="en-US" sz="1100"/>
          </a:p>
        </p:txBody>
      </p:sp>
      <p:sp>
        <p:nvSpPr>
          <p:cNvPr id="12" name="Shape 12"/>
          <p:cNvSpPr/>
          <p:nvPr/>
        </p:nvSpPr>
        <p:spPr>
          <a:xfrm>
            <a:off x="3493008" y="1874519"/>
            <a:ext cx="2514600" cy="19659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3493008" y="2240280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3600" b="1">
                <a:solidFill>
                  <a:srgbClr val="34A853"/>
                </a:solidFill>
                <a:latin typeface="Arial"/>
              </a:rPr>
              <a:t>286</a:t>
            </a:r>
            <a:endParaRPr lang="en-US" sz="3600"/>
          </a:p>
        </p:txBody>
      </p:sp>
      <p:sp>
        <p:nvSpPr>
          <p:cNvPr id="14" name="Text 14"/>
          <p:cNvSpPr txBox="1"/>
          <p:nvPr/>
        </p:nvSpPr>
        <p:spPr>
          <a:xfrm>
            <a:off x="3493008" y="31729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ROWS LOADED</a:t>
            </a:r>
            <a:endParaRPr lang="en-US" sz="1100"/>
          </a:p>
        </p:txBody>
      </p:sp>
      <p:sp>
        <p:nvSpPr>
          <p:cNvPr id="15" name="Shape 15"/>
          <p:cNvSpPr/>
          <p:nvPr/>
        </p:nvSpPr>
        <p:spPr>
          <a:xfrm>
            <a:off x="6327648" y="1874519"/>
            <a:ext cx="2514600" cy="19659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EA4335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327648" y="2240280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3600" b="1">
                <a:solidFill>
                  <a:srgbClr val="EA4335"/>
                </a:solidFill>
                <a:latin typeface="Arial"/>
              </a:rPr>
              <a:t>14</a:t>
            </a:r>
            <a:endParaRPr lang="en-US" sz="3600"/>
          </a:p>
        </p:txBody>
      </p:sp>
      <p:sp>
        <p:nvSpPr>
          <p:cNvPr id="17" name="Text 17"/>
          <p:cNvSpPr txBox="1"/>
          <p:nvPr/>
        </p:nvSpPr>
        <p:spPr>
          <a:xfrm>
            <a:off x="6327648" y="31729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ROWS REJECTED</a:t>
            </a:r>
            <a:endParaRPr lang="en-US" sz="1100"/>
          </a:p>
        </p:txBody>
      </p:sp>
      <p:sp>
        <p:nvSpPr>
          <p:cNvPr id="18" name="Shape 18"/>
          <p:cNvSpPr/>
          <p:nvPr/>
        </p:nvSpPr>
        <p:spPr>
          <a:xfrm>
            <a:off x="9162288" y="1874519"/>
            <a:ext cx="2514600" cy="19659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9162288" y="2240280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3600" b="1">
                <a:solidFill>
                  <a:srgbClr val="FBBC04"/>
                </a:solidFill>
                <a:latin typeface="Arial"/>
              </a:rPr>
              <a:t>0</a:t>
            </a:r>
            <a:endParaRPr lang="en-US" sz="3600"/>
          </a:p>
        </p:txBody>
      </p:sp>
      <p:sp>
        <p:nvSpPr>
          <p:cNvPr id="20" name="Text 20"/>
          <p:cNvSpPr txBox="1"/>
          <p:nvPr/>
        </p:nvSpPr>
        <p:spPr>
          <a:xfrm>
            <a:off x="9162288" y="31729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FINAL DUPLICATES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1920240" y="4526280"/>
            <a:ext cx="8366760" cy="8229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C5E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2148840" y="4773168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500" b="1">
                <a:solidFill>
                  <a:srgbClr val="E8F0FE"/>
                </a:solidFill>
                <a:latin typeface="Arial"/>
              </a:rPr>
              <a:t>Re-upload safe: MERGE on booking_id  •  Eventarc delivery: at-least-once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HANDS-ON CLOUD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The GCP stack students actually touch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09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71907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Circle 10"/>
          <p:cNvSpPr/>
          <p:nvPr/>
        </p:nvSpPr>
        <p:spPr>
          <a:xfrm>
            <a:off x="859536" y="1975104"/>
            <a:ext cx="320040" cy="3200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298448" y="1947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Cloud Storage</a:t>
            </a:r>
            <a:endParaRPr lang="en-US" sz="1500"/>
          </a:p>
        </p:txBody>
      </p:sp>
      <p:sp>
        <p:nvSpPr>
          <p:cNvPr id="12" name="Text 12"/>
          <p:cNvSpPr txBox="1"/>
          <p:nvPr/>
        </p:nvSpPr>
        <p:spPr>
          <a:xfrm>
            <a:off x="1298448" y="246887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Landing zone</a:t>
            </a:r>
            <a:endParaRPr lang="en-US" sz="1100"/>
          </a:p>
        </p:txBody>
      </p:sp>
      <p:sp>
        <p:nvSpPr>
          <p:cNvPr id="13" name="Shape 13"/>
          <p:cNvSpPr/>
          <p:nvPr/>
        </p:nvSpPr>
        <p:spPr>
          <a:xfrm>
            <a:off x="3474720" y="171907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4" name="Circle 14"/>
          <p:cNvSpPr/>
          <p:nvPr/>
        </p:nvSpPr>
        <p:spPr>
          <a:xfrm>
            <a:off x="3675887" y="1975104"/>
            <a:ext cx="320040" cy="3200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114800" y="1947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Cloud Run</a:t>
            </a:r>
            <a:endParaRPr lang="en-US" sz="1500"/>
          </a:p>
        </p:txBody>
      </p:sp>
      <p:sp>
        <p:nvSpPr>
          <p:cNvPr id="16" name="Text 16"/>
          <p:cNvSpPr txBox="1"/>
          <p:nvPr/>
        </p:nvSpPr>
        <p:spPr>
          <a:xfrm>
            <a:off x="4114800" y="246887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Container API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6291072" y="171907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18" name="Circle 18"/>
          <p:cNvSpPr/>
          <p:nvPr/>
        </p:nvSpPr>
        <p:spPr>
          <a:xfrm>
            <a:off x="6492240" y="1975104"/>
            <a:ext cx="320040" cy="3200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931152" y="1947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BigQuery</a:t>
            </a:r>
            <a:endParaRPr lang="en-US" sz="1500"/>
          </a:p>
        </p:txBody>
      </p:sp>
      <p:sp>
        <p:nvSpPr>
          <p:cNvPr id="20" name="Text 20"/>
          <p:cNvSpPr txBox="1"/>
          <p:nvPr/>
        </p:nvSpPr>
        <p:spPr>
          <a:xfrm>
            <a:off x="6931152" y="246887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Warehouse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9107424" y="171907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EA4335"/>
            </a:solidFill>
          </a:ln>
        </p:spPr>
      </p:sp>
      <p:sp>
        <p:nvSpPr>
          <p:cNvPr id="22" name="Circle 22"/>
          <p:cNvSpPr/>
          <p:nvPr/>
        </p:nvSpPr>
        <p:spPr>
          <a:xfrm>
            <a:off x="9308592" y="1975104"/>
            <a:ext cx="320040" cy="3200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747504" y="1947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Eventarc</a:t>
            </a:r>
            <a:endParaRPr lang="en-US" sz="1500"/>
          </a:p>
        </p:txBody>
      </p:sp>
      <p:sp>
        <p:nvSpPr>
          <p:cNvPr id="24" name="Text 24"/>
          <p:cNvSpPr txBox="1"/>
          <p:nvPr/>
        </p:nvSpPr>
        <p:spPr>
          <a:xfrm>
            <a:off x="9747504" y="246887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Object events</a:t>
            </a:r>
            <a:endParaRPr lang="en-US" sz="1100"/>
          </a:p>
        </p:txBody>
      </p:sp>
      <p:sp>
        <p:nvSpPr>
          <p:cNvPr id="25" name="Shape 25"/>
          <p:cNvSpPr/>
          <p:nvPr/>
        </p:nvSpPr>
        <p:spPr>
          <a:xfrm>
            <a:off x="658368" y="363931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C5E8"/>
            </a:solidFill>
          </a:ln>
        </p:spPr>
      </p:sp>
      <p:sp>
        <p:nvSpPr>
          <p:cNvPr id="26" name="Circle 26"/>
          <p:cNvSpPr/>
          <p:nvPr/>
        </p:nvSpPr>
        <p:spPr>
          <a:xfrm>
            <a:off x="859536" y="3895344"/>
            <a:ext cx="320040" cy="320040"/>
          </a:xfrm>
          <a:prstGeom prst="ellipse">
            <a:avLst/>
          </a:prstGeom>
          <a:solidFill>
            <a:srgbClr val="27C5E8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298448" y="3867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Artifact Registry</a:t>
            </a:r>
            <a:endParaRPr lang="en-US" sz="1500"/>
          </a:p>
        </p:txBody>
      </p:sp>
      <p:sp>
        <p:nvSpPr>
          <p:cNvPr id="28" name="Text 28"/>
          <p:cNvSpPr txBox="1"/>
          <p:nvPr/>
        </p:nvSpPr>
        <p:spPr>
          <a:xfrm>
            <a:off x="1298448" y="4389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Image store</a:t>
            </a:r>
            <a:endParaRPr lang="en-US" sz="1100"/>
          </a:p>
        </p:txBody>
      </p:sp>
      <p:sp>
        <p:nvSpPr>
          <p:cNvPr id="29" name="Shape 29"/>
          <p:cNvSpPr/>
          <p:nvPr/>
        </p:nvSpPr>
        <p:spPr>
          <a:xfrm>
            <a:off x="3474720" y="363931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30" name="Circle 30"/>
          <p:cNvSpPr/>
          <p:nvPr/>
        </p:nvSpPr>
        <p:spPr>
          <a:xfrm>
            <a:off x="3675887" y="3895344"/>
            <a:ext cx="320040" cy="3200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4114800" y="3867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Cloud Build</a:t>
            </a:r>
            <a:endParaRPr lang="en-US" sz="1500"/>
          </a:p>
        </p:txBody>
      </p:sp>
      <p:sp>
        <p:nvSpPr>
          <p:cNvPr id="32" name="Text 32"/>
          <p:cNvSpPr txBox="1"/>
          <p:nvPr/>
        </p:nvSpPr>
        <p:spPr>
          <a:xfrm>
            <a:off x="4114800" y="4389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CI/CD</a:t>
            </a:r>
            <a:endParaRPr lang="en-US" sz="1100"/>
          </a:p>
        </p:txBody>
      </p:sp>
      <p:sp>
        <p:nvSpPr>
          <p:cNvPr id="33" name="Shape 33"/>
          <p:cNvSpPr/>
          <p:nvPr/>
        </p:nvSpPr>
        <p:spPr>
          <a:xfrm>
            <a:off x="6291072" y="363931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34" name="Circle 34"/>
          <p:cNvSpPr/>
          <p:nvPr/>
        </p:nvSpPr>
        <p:spPr>
          <a:xfrm>
            <a:off x="6492240" y="3895344"/>
            <a:ext cx="320040" cy="3200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931152" y="3867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IAM</a:t>
            </a:r>
            <a:endParaRPr lang="en-US" sz="1500"/>
          </a:p>
        </p:txBody>
      </p:sp>
      <p:sp>
        <p:nvSpPr>
          <p:cNvPr id="36" name="Text 36"/>
          <p:cNvSpPr txBox="1"/>
          <p:nvPr/>
        </p:nvSpPr>
        <p:spPr>
          <a:xfrm>
            <a:off x="6931152" y="4389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Least privilege</a:t>
            </a:r>
            <a:endParaRPr lang="en-US" sz="1100"/>
          </a:p>
        </p:txBody>
      </p:sp>
      <p:sp>
        <p:nvSpPr>
          <p:cNvPr id="37" name="Shape 37"/>
          <p:cNvSpPr/>
          <p:nvPr/>
        </p:nvSpPr>
        <p:spPr>
          <a:xfrm>
            <a:off x="9107424" y="3639312"/>
            <a:ext cx="2487168" cy="14173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FBBC04"/>
            </a:solidFill>
          </a:ln>
        </p:spPr>
      </p:sp>
      <p:sp>
        <p:nvSpPr>
          <p:cNvPr id="38" name="Circle 38"/>
          <p:cNvSpPr/>
          <p:nvPr/>
        </p:nvSpPr>
        <p:spPr>
          <a:xfrm>
            <a:off x="9308592" y="3895344"/>
            <a:ext cx="320040" cy="3200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747504" y="3867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Cloud Logging</a:t>
            </a:r>
            <a:endParaRPr lang="en-US" sz="1500"/>
          </a:p>
        </p:txBody>
      </p:sp>
      <p:sp>
        <p:nvSpPr>
          <p:cNvPr id="40" name="Text 40"/>
          <p:cNvSpPr txBox="1"/>
          <p:nvPr/>
        </p:nvSpPr>
        <p:spPr>
          <a:xfrm>
            <a:off x="9747504" y="4389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100">
                <a:solidFill>
                  <a:srgbClr val="AFC2D9"/>
                </a:solidFill>
                <a:latin typeface="Arial"/>
              </a:rPr>
              <a:t>Operations</a:t>
            </a:r>
            <a:endParaRPr lang="en-US" sz="1100"/>
          </a:p>
        </p:txBody>
      </p:sp>
      <p:sp>
        <p:nvSpPr>
          <p:cNvPr id="41" name="Text 41"/>
          <p:cNvSpPr txBox="1"/>
          <p:nvPr/>
        </p:nvSpPr>
        <p:spPr>
          <a:xfrm>
            <a:off x="1005840" y="5650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E8F0FE"/>
                </a:solidFill>
                <a:latin typeface="Arial"/>
              </a:rPr>
              <a:t>Plus Python • Flask • Pandas • Docker • SQL • REST APIs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COURSE EXPERIENCE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How you will learn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10</a:t>
            </a:r>
            <a:endParaRPr lang="en-US" sz="900"/>
          </a:p>
        </p:txBody>
      </p:sp>
      <p:sp>
        <p:nvSpPr>
          <p:cNvPr id="9" name="Circle 9"/>
          <p:cNvSpPr/>
          <p:nvPr/>
        </p:nvSpPr>
        <p:spPr>
          <a:xfrm>
            <a:off x="1188719" y="1783080"/>
            <a:ext cx="804672" cy="80467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188719" y="2029968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 b="1">
                <a:solidFill>
                  <a:srgbClr val="081426"/>
                </a:solidFill>
                <a:latin typeface="Arial"/>
              </a:rPr>
              <a:t>01</a:t>
            </a:r>
            <a:endParaRPr lang="en-US" sz="1300"/>
          </a:p>
        </p:txBody>
      </p:sp>
      <p:sp>
        <p:nvSpPr>
          <p:cNvPr id="11" name="Text 11"/>
          <p:cNvSpPr txBox="1"/>
          <p:nvPr/>
        </p:nvSpPr>
        <p:spPr>
          <a:xfrm>
            <a:off x="530352" y="2926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</a:rPr>
              <a:t>Understand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530352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Business problem</a:t>
            </a:r>
            <a:endParaRPr lang="en-US" sz="1300"/>
          </a:p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&amp; architecture</a:t>
            </a:r>
            <a:endParaRPr lang="en-US" sz="1300"/>
          </a:p>
        </p:txBody>
      </p:sp>
      <p:cxnSp>
        <p:nvCxnSpPr>
          <p:cNvPr id="13" name="Line 13"/>
          <p:cNvCxnSpPr/>
          <p:nvPr/>
        </p:nvCxnSpPr>
        <p:spPr>
          <a:xfrm>
            <a:off x="2039112" y="2185416"/>
            <a:ext cx="704088" cy="0"/>
          </a:xfrm>
          <a:prstGeom prst="line">
            <a:avLst/>
          </a:prstGeom>
          <a:ln w="25400">
            <a:solidFill>
              <a:srgbClr val="1A2E49"/>
            </a:solidFill>
          </a:ln>
        </p:spPr>
      </p:cxnSp>
      <p:sp>
        <p:nvSpPr>
          <p:cNvPr id="14" name="Circle 14"/>
          <p:cNvSpPr/>
          <p:nvPr/>
        </p:nvSpPr>
        <p:spPr>
          <a:xfrm>
            <a:off x="3511296" y="1783080"/>
            <a:ext cx="804672" cy="804672"/>
          </a:xfrm>
          <a:prstGeom prst="ellipse">
            <a:avLst/>
          </a:prstGeom>
          <a:solidFill>
            <a:srgbClr val="27C5E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511296" y="2029968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 b="1">
                <a:solidFill>
                  <a:srgbClr val="081426"/>
                </a:solidFill>
                <a:latin typeface="Arial"/>
              </a:rPr>
              <a:t>02</a:t>
            </a:r>
            <a:endParaRPr lang="en-US" sz="1300"/>
          </a:p>
        </p:txBody>
      </p:sp>
      <p:sp>
        <p:nvSpPr>
          <p:cNvPr id="16" name="Text 16"/>
          <p:cNvSpPr txBox="1"/>
          <p:nvPr/>
        </p:nvSpPr>
        <p:spPr>
          <a:xfrm>
            <a:off x="2852928" y="2926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</a:rPr>
              <a:t>Build</a:t>
            </a:r>
            <a:endParaRPr lang="en-US" sz="1700"/>
          </a:p>
        </p:txBody>
      </p:sp>
      <p:sp>
        <p:nvSpPr>
          <p:cNvPr id="17" name="Text 17"/>
          <p:cNvSpPr txBox="1"/>
          <p:nvPr/>
        </p:nvSpPr>
        <p:spPr>
          <a:xfrm>
            <a:off x="2852928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Python modules</a:t>
            </a:r>
            <a:endParaRPr lang="en-US" sz="1300"/>
          </a:p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&amp; validations</a:t>
            </a:r>
            <a:endParaRPr lang="en-US" sz="1300"/>
          </a:p>
        </p:txBody>
      </p:sp>
      <p:cxnSp>
        <p:nvCxnSpPr>
          <p:cNvPr id="18" name="Line 18"/>
          <p:cNvCxnSpPr/>
          <p:nvPr/>
        </p:nvCxnSpPr>
        <p:spPr>
          <a:xfrm>
            <a:off x="4361688" y="2185416"/>
            <a:ext cx="704088" cy="0"/>
          </a:xfrm>
          <a:prstGeom prst="line">
            <a:avLst/>
          </a:prstGeom>
          <a:ln w="25400">
            <a:solidFill>
              <a:srgbClr val="1A2E49"/>
            </a:solidFill>
          </a:ln>
        </p:spPr>
      </p:cxnSp>
      <p:sp>
        <p:nvSpPr>
          <p:cNvPr id="19" name="Circle 19"/>
          <p:cNvSpPr/>
          <p:nvPr/>
        </p:nvSpPr>
        <p:spPr>
          <a:xfrm>
            <a:off x="5833872" y="1783080"/>
            <a:ext cx="804672" cy="80467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833872" y="2029968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 b="1">
                <a:solidFill>
                  <a:srgbClr val="081426"/>
                </a:solidFill>
                <a:latin typeface="Arial"/>
              </a:rPr>
              <a:t>03</a:t>
            </a:r>
            <a:endParaRPr lang="en-US" sz="1300"/>
          </a:p>
        </p:txBody>
      </p:sp>
      <p:sp>
        <p:nvSpPr>
          <p:cNvPr id="21" name="Text 21"/>
          <p:cNvSpPr txBox="1"/>
          <p:nvPr/>
        </p:nvSpPr>
        <p:spPr>
          <a:xfrm>
            <a:off x="5175504" y="2926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</a:rPr>
              <a:t>Deploy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5175504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Docker +</a:t>
            </a:r>
            <a:endParaRPr lang="en-US" sz="1300"/>
          </a:p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Cloud Run</a:t>
            </a:r>
            <a:endParaRPr lang="en-US" sz="1300"/>
          </a:p>
        </p:txBody>
      </p:sp>
      <p:cxnSp>
        <p:nvCxnSpPr>
          <p:cNvPr id="23" name="Line 23"/>
          <p:cNvCxnSpPr/>
          <p:nvPr/>
        </p:nvCxnSpPr>
        <p:spPr>
          <a:xfrm>
            <a:off x="6684264" y="2185416"/>
            <a:ext cx="704087" cy="0"/>
          </a:xfrm>
          <a:prstGeom prst="line">
            <a:avLst/>
          </a:prstGeom>
          <a:ln w="25400">
            <a:solidFill>
              <a:srgbClr val="1A2E49"/>
            </a:solidFill>
          </a:ln>
        </p:spPr>
      </p:cxnSp>
      <p:sp>
        <p:nvSpPr>
          <p:cNvPr id="24" name="Circle 24"/>
          <p:cNvSpPr/>
          <p:nvPr/>
        </p:nvSpPr>
        <p:spPr>
          <a:xfrm>
            <a:off x="8156448" y="1783080"/>
            <a:ext cx="804672" cy="804672"/>
          </a:xfrm>
          <a:prstGeom prst="ellipse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156448" y="2029968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 b="1">
                <a:solidFill>
                  <a:srgbClr val="081426"/>
                </a:solidFill>
                <a:latin typeface="Arial"/>
              </a:rPr>
              <a:t>04</a:t>
            </a:r>
            <a:endParaRPr lang="en-US" sz="1300"/>
          </a:p>
        </p:txBody>
      </p:sp>
      <p:sp>
        <p:nvSpPr>
          <p:cNvPr id="26" name="Text 26"/>
          <p:cNvSpPr txBox="1"/>
          <p:nvPr/>
        </p:nvSpPr>
        <p:spPr>
          <a:xfrm>
            <a:off x="7498079" y="2926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</a:rPr>
              <a:t>Automate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7498079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Eventarc +</a:t>
            </a:r>
            <a:endParaRPr lang="en-US" sz="1300"/>
          </a:p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Cloud Build</a:t>
            </a:r>
            <a:endParaRPr lang="en-US" sz="1300"/>
          </a:p>
        </p:txBody>
      </p:sp>
      <p:cxnSp>
        <p:nvCxnSpPr>
          <p:cNvPr id="28" name="Line 28"/>
          <p:cNvCxnSpPr/>
          <p:nvPr/>
        </p:nvCxnSpPr>
        <p:spPr>
          <a:xfrm>
            <a:off x="9006840" y="2185416"/>
            <a:ext cx="704087" cy="0"/>
          </a:xfrm>
          <a:prstGeom prst="line">
            <a:avLst/>
          </a:prstGeom>
          <a:ln w="25400">
            <a:solidFill>
              <a:srgbClr val="1A2E49"/>
            </a:solidFill>
          </a:ln>
        </p:spPr>
      </p:cxnSp>
      <p:sp>
        <p:nvSpPr>
          <p:cNvPr id="29" name="Circle 29"/>
          <p:cNvSpPr/>
          <p:nvPr/>
        </p:nvSpPr>
        <p:spPr>
          <a:xfrm>
            <a:off x="10479024" y="1783080"/>
            <a:ext cx="804672" cy="80467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0479024" y="2029968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 b="1">
                <a:solidFill>
                  <a:srgbClr val="081426"/>
                </a:solidFill>
                <a:latin typeface="Arial"/>
              </a:rPr>
              <a:t>05</a:t>
            </a:r>
            <a:endParaRPr lang="en-US" sz="1300"/>
          </a:p>
        </p:txBody>
      </p:sp>
      <p:sp>
        <p:nvSpPr>
          <p:cNvPr id="31" name="Text 31"/>
          <p:cNvSpPr txBox="1"/>
          <p:nvPr/>
        </p:nvSpPr>
        <p:spPr>
          <a:xfrm>
            <a:off x="9820656" y="2926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</a:rPr>
              <a:t>Prove</a:t>
            </a:r>
            <a:endParaRPr lang="en-US" sz="1700"/>
          </a:p>
        </p:txBody>
      </p:sp>
      <p:sp>
        <p:nvSpPr>
          <p:cNvPr id="32" name="Text 32"/>
          <p:cNvSpPr txBox="1"/>
          <p:nvPr/>
        </p:nvSpPr>
        <p:spPr>
          <a:xfrm>
            <a:off x="9820656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Logs, audit</a:t>
            </a:r>
            <a:endParaRPr lang="en-US" sz="1300"/>
          </a:p>
          <a:p>
            <a:pPr algn="ctr">
              <a:buNone/>
            </a:pPr>
            <a:r>
              <a:rPr lang="en-US" sz="1300">
                <a:solidFill>
                  <a:srgbClr val="AFC2D9"/>
                </a:solidFill>
                <a:latin typeface="Arial"/>
              </a:rPr>
              <a:t>&amp; interview</a:t>
            </a:r>
            <a:endParaRPr lang="en-US" sz="1300"/>
          </a:p>
        </p:txBody>
      </p:sp>
      <p:sp>
        <p:nvSpPr>
          <p:cNvPr id="33" name="Shape 33"/>
          <p:cNvSpPr/>
          <p:nvPr/>
        </p:nvSpPr>
        <p:spPr>
          <a:xfrm>
            <a:off x="2240280" y="4956048"/>
            <a:ext cx="7726679" cy="65836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2468880" y="5148072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</a:rPr>
              <a:t>SEE → DO → CHECK → EXPLAIN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CAREER &amp; PORTFOLIO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What you leave with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11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40080" y="1691640"/>
            <a:ext cx="3383280" cy="34747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40080" y="1691640"/>
            <a:ext cx="73152" cy="347472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4285F4"/>
                </a:solidFill>
                <a:latin typeface="Arial"/>
              </a:rPr>
              <a:t>GITHUB</a:t>
            </a:r>
            <a:endParaRPr lang="en-US" sz="900"/>
          </a:p>
        </p:txBody>
      </p:sp>
      <p:sp>
        <p:nvSpPr>
          <p:cNvPr id="12" name="Text 12"/>
          <p:cNvSpPr txBox="1"/>
          <p:nvPr/>
        </p:nvSpPr>
        <p:spPr>
          <a:xfrm>
            <a:off x="89611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 credible repository</a:t>
            </a:r>
            <a:endParaRPr lang="en-US" sz="1800"/>
          </a:p>
        </p:txBody>
      </p:sp>
      <p:sp>
        <p:nvSpPr>
          <p:cNvPr id="13" name="Text 13"/>
          <p:cNvSpPr txBox="1"/>
          <p:nvPr/>
        </p:nvSpPr>
        <p:spPr>
          <a:xfrm>
            <a:off x="896112" y="2679192"/>
            <a:ext cx="292608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Modular source, sample data, SQL, Docker, deployment automation, demos and production-minded documentation.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389120" y="1691640"/>
            <a:ext cx="3383280" cy="34747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89120" y="1691640"/>
            <a:ext cx="73152" cy="3474720"/>
          </a:xfrm>
          <a:prstGeom prst="rect">
            <a:avLst/>
          </a:prstGeom>
          <a:solidFill>
            <a:srgbClr val="27C5E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4515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27C5E8"/>
                </a:solidFill>
                <a:latin typeface="Arial"/>
              </a:rPr>
              <a:t>INTERVIEW</a:t>
            </a:r>
            <a:endParaRPr lang="en-US" sz="900"/>
          </a:p>
        </p:txBody>
      </p:sp>
      <p:sp>
        <p:nvSpPr>
          <p:cNvPr id="17" name="Text 17"/>
          <p:cNvSpPr txBox="1"/>
          <p:nvPr/>
        </p:nvSpPr>
        <p:spPr>
          <a:xfrm>
            <a:off x="464515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 complete story</a:t>
            </a:r>
            <a:endParaRPr lang="en-US" sz="1800"/>
          </a:p>
        </p:txBody>
      </p:sp>
      <p:sp>
        <p:nvSpPr>
          <p:cNvPr id="18" name="Text 18"/>
          <p:cNvSpPr txBox="1"/>
          <p:nvPr/>
        </p:nvSpPr>
        <p:spPr>
          <a:xfrm>
            <a:off x="4645152" y="2679192"/>
            <a:ext cx="292608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Explain tool choices, validation order, staging, MERGE, IAM, idempotency, Eventarc and CI/CD with evidence.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138160" y="1691640"/>
            <a:ext cx="3383280" cy="34747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138160" y="1691640"/>
            <a:ext cx="73152" cy="347472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394192" y="1874520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34A853"/>
                </a:solidFill>
                <a:latin typeface="Arial"/>
              </a:rPr>
              <a:t>CONFIDENCE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8394192" y="222199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 live cloud system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8394192" y="2679192"/>
            <a:ext cx="292608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Run it, break it, replay it and verify it through APIs, logs, audits and BigQuery queries.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WHO SHOULD ENROLL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Is this course for you?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12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691640"/>
            <a:ext cx="3429000" cy="35661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58368" y="1691640"/>
            <a:ext cx="73152" cy="356616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14400" y="1874520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4285F4"/>
                </a:solidFill>
                <a:latin typeface="Arial"/>
              </a:rPr>
              <a:t>STARTING OUT</a:t>
            </a:r>
            <a:endParaRPr lang="en-US" sz="900"/>
          </a:p>
        </p:txBody>
      </p:sp>
      <p:sp>
        <p:nvSpPr>
          <p:cNvPr id="12" name="Text 12"/>
          <p:cNvSpPr txBox="1"/>
          <p:nvPr/>
        </p:nvSpPr>
        <p:spPr>
          <a:xfrm>
            <a:off x="914400" y="2221992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Aspiring data engineers</a:t>
            </a:r>
            <a:endParaRPr lang="en-US" sz="1800"/>
          </a:p>
        </p:txBody>
      </p:sp>
      <p:sp>
        <p:nvSpPr>
          <p:cNvPr id="13" name="Text 13"/>
          <p:cNvSpPr txBox="1"/>
          <p:nvPr/>
        </p:nvSpPr>
        <p:spPr>
          <a:xfrm>
            <a:off x="914400" y="2679192"/>
            <a:ext cx="297180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You know basic Python/SQL and want your first complete cloud project—not isolated syntax exercises.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389120" y="1691640"/>
            <a:ext cx="3429000" cy="35661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89120" y="1691640"/>
            <a:ext cx="73152" cy="356616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45152" y="1874520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34A853"/>
                </a:solidFill>
                <a:latin typeface="Arial"/>
              </a:rPr>
              <a:t>UPSKILLING</a:t>
            </a:r>
            <a:endParaRPr lang="en-US" sz="900"/>
          </a:p>
        </p:txBody>
      </p:sp>
      <p:sp>
        <p:nvSpPr>
          <p:cNvPr id="17" name="Text 17"/>
          <p:cNvSpPr txBox="1"/>
          <p:nvPr/>
        </p:nvSpPr>
        <p:spPr>
          <a:xfrm>
            <a:off x="4645152" y="2221992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Working professionals</a:t>
            </a:r>
            <a:endParaRPr lang="en-US" sz="1800"/>
          </a:p>
        </p:txBody>
      </p:sp>
      <p:sp>
        <p:nvSpPr>
          <p:cNvPr id="18" name="Text 18"/>
          <p:cNvSpPr txBox="1"/>
          <p:nvPr/>
        </p:nvSpPr>
        <p:spPr>
          <a:xfrm>
            <a:off x="4645152" y="2679192"/>
            <a:ext cx="297180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You want practical GCP, container, API, IAM and automation experience for your next role.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119872" y="1691640"/>
            <a:ext cx="3429000" cy="356616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27415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119872" y="1691640"/>
            <a:ext cx="73152" cy="3566160"/>
          </a:xfrm>
          <a:prstGeom prst="rect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375904" y="1874520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900" b="1">
                <a:solidFill>
                  <a:srgbClr val="FBBC04"/>
                </a:solidFill>
                <a:latin typeface="Arial"/>
              </a:rPr>
              <a:t>TEACHING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8375904" y="2221992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Interview preparation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8375904" y="2679192"/>
            <a:ext cx="297180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You need a system you can explain end-to-end, defend design choices and demo with confidence.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600">
                <a:solidFill>
                  <a:srgbClr val="E8F0FE"/>
                </a:solidFill>
                <a:latin typeface="Arial"/>
              </a:rPr>
              <a:t>Prerequisites: basic Python + SQL curiosity. We build the cloud path together.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WHAT YOU WILL SHIP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Your capstone checklist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13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691640"/>
            <a:ext cx="5257800" cy="39319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4285F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87552" y="199339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27C5E8"/>
                </a:solidFill>
                <a:latin typeface="Arial"/>
              </a:rPr>
              <a:t>DATA PIPELINE</a:t>
            </a:r>
            <a:endParaRPr lang="en-US" sz="1300"/>
          </a:p>
        </p:txBody>
      </p:sp>
      <p:sp>
        <p:nvSpPr>
          <p:cNvPr id="11" name="Bullets 11"/>
          <p:cNvSpPr txBox="1"/>
          <p:nvPr/>
        </p:nvSpPr>
        <p:spPr>
          <a:xfrm>
            <a:off x="960120" y="2514600"/>
            <a:ext cx="45262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Timestamped daily CSV landing zone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Validation + rejected-record framework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Transformations with lineage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Staging + idempotent MERGE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SUCCESS / FAILED audit trail</a:t>
            </a:r>
            <a:endParaRPr lang="en-US" sz="1700"/>
          </a:p>
        </p:txBody>
      </p:sp>
      <p:sp>
        <p:nvSpPr>
          <p:cNvPr id="12" name="Shape 12"/>
          <p:cNvSpPr/>
          <p:nvPr/>
        </p:nvSpPr>
        <p:spPr>
          <a:xfrm>
            <a:off x="6263640" y="1691640"/>
            <a:ext cx="5257800" cy="3931920"/>
          </a:xfrm>
          <a:prstGeom prst="roundRect">
            <a:avLst/>
          </a:prstGeom>
          <a:solidFill>
            <a:srgbClr val="1A2E49"/>
          </a:solidFill>
          <a:ln w="12700">
            <a:solidFill>
              <a:srgbClr val="34A853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565392" y="199339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300" b="1">
                <a:solidFill>
                  <a:srgbClr val="34A853"/>
                </a:solidFill>
                <a:latin typeface="Arial"/>
              </a:rPr>
              <a:t>CLOUD DELIVERY</a:t>
            </a:r>
            <a:endParaRPr lang="en-US" sz="1300"/>
          </a:p>
        </p:txBody>
      </p:sp>
      <p:sp>
        <p:nvSpPr>
          <p:cNvPr id="14" name="Bullets 14"/>
          <p:cNvSpPr txBox="1"/>
          <p:nvPr/>
        </p:nvSpPr>
        <p:spPr>
          <a:xfrm>
            <a:off x="6537960" y="2514600"/>
            <a:ext cx="45262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Flask REST API on Cloud Run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Docker + Artifact Registry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Eventarc file automation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Cloud Build CI/CD</a:t>
            </a:r>
            <a:endParaRPr lang="en-US" sz="1700"/>
          </a:p>
          <a:p>
            <a:pPr algn="l" marL="260000" indent="-180000">
              <a:buChar char="•"/>
            </a:pPr>
            <a:r>
              <a:rPr lang="en-US" sz="1700">
                <a:solidFill>
                  <a:srgbClr val="FFFFFF"/>
                </a:solidFill>
                <a:latin typeface="Arial"/>
              </a:rPr>
              <a:t>IAM, logs and interview walkthrough</a:t>
            </a:r>
            <a:endParaRPr lang="en-US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Circle 3"/>
          <p:cNvSpPr/>
          <p:nvPr/>
        </p:nvSpPr>
        <p:spPr>
          <a:xfrm>
            <a:off x="9966960" y="-1280160"/>
            <a:ext cx="3566160" cy="356616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7C5E8">
              <a:alpha val="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32918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000" b="1">
                <a:solidFill>
                  <a:srgbClr val="27C5E8"/>
                </a:solidFill>
                <a:latin typeface="Arial"/>
              </a:rPr>
              <a:t>READY TO START?</a:t>
            </a:r>
            <a:endParaRPr lang="en-US" sz="1000"/>
          </a:p>
        </p:txBody>
      </p:sp>
      <p:sp>
        <p:nvSpPr>
          <p:cNvPr id="6" name="Text 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</a:rPr>
              <a:t>Build the project. Tell the story. Get noticed.</a:t>
            </a:r>
            <a:endParaRPr lang="en-US" sz="2800"/>
          </a:p>
        </p:txBody>
      </p:sp>
      <p:cxnSp>
        <p:nvCxnSpPr>
          <p:cNvPr id="7" name="Line 7"/>
          <p:cNvCxnSpPr/>
          <p:nvPr/>
        </p:nvCxnSpPr>
        <p:spPr>
          <a:xfrm>
            <a:off x="594360" y="1389888"/>
            <a:ext cx="10991088" cy="0"/>
          </a:xfrm>
          <a:prstGeom prst="line">
            <a:avLst/>
          </a:prstGeom>
          <a:ln w="12700">
            <a:solidFill>
              <a:srgbClr val="1A2E49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>
              <a:buNone/>
            </a:pPr>
            <a:r>
              <a:rPr lang="en-US" sz="900">
                <a:solidFill>
                  <a:srgbClr val="AFC2D9"/>
                </a:solidFill>
                <a:latin typeface="Arial"/>
              </a:rPr>
              <a:t>14</a:t>
            </a:r>
            <a:endParaRPr lang="en-US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508760"/>
            <a:ext cx="7498079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latin typeface="Arial"/>
              </a:rPr>
              <a:t>Stop collecting disconnected tutorials.</a:t>
            </a:r>
            <a:endParaRPr lang="en-US" sz="3000"/>
          </a:p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latin typeface="Arial"/>
              </a:rPr>
              <a:t>Ship one complete GCP data platform.</a:t>
            </a:r>
            <a:endParaRPr lang="en-US" sz="3000"/>
          </a:p>
        </p:txBody>
      </p:sp>
      <p:sp>
        <p:nvSpPr>
          <p:cNvPr id="10" name="Shape 10"/>
          <p:cNvSpPr/>
          <p:nvPr/>
        </p:nvSpPr>
        <p:spPr>
          <a:xfrm>
            <a:off x="731520" y="3063240"/>
            <a:ext cx="4160520" cy="71323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87552" y="3255264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ENROLL NOW  →</a:t>
            </a:r>
            <a:endParaRPr lang="en-US" sz="1900"/>
          </a:p>
        </p:txBody>
      </p:sp>
      <p:sp>
        <p:nvSpPr>
          <p:cNvPr id="12" name="Text 12"/>
          <p:cNvSpPr txBox="1"/>
          <p:nvPr/>
        </p:nvSpPr>
        <p:spPr>
          <a:xfrm>
            <a:off x="777240" y="4041648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400" b="1">
                <a:solidFill>
                  <a:srgbClr val="27C5E8"/>
                </a:solidFill>
                <a:latin typeface="Arial"/>
              </a:rPr>
              <a:t>YOUR ENROLLMENT LINK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777240" y="4590288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>
              <a:buNone/>
            </a:pPr>
            <a:r>
              <a:rPr lang="en-US" sz="1200">
                <a:solidFill>
                  <a:srgbClr val="AFC2D9"/>
                </a:solidFill>
                <a:latin typeface="Arial"/>
              </a:rPr>
              <a:t>YOUR NAME  •  YOUR EMAIL / SOCIAL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7909560" y="1600200"/>
            <a:ext cx="288036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09560" y="2468880"/>
            <a:ext cx="28803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800" b="1">
                <a:solidFill>
                  <a:srgbClr val="152238"/>
                </a:solidFill>
                <a:latin typeface="Arial"/>
              </a:rPr>
              <a:t>ADD QR</a:t>
            </a:r>
            <a:endParaRPr lang="en-US" sz="1800"/>
          </a:p>
          <a:p>
            <a:pPr algn="ctr">
              <a:buNone/>
            </a:pPr>
            <a:r>
              <a:rPr lang="en-US" sz="1800" b="1">
                <a:solidFill>
                  <a:srgbClr val="152238"/>
                </a:solidFill>
                <a:latin typeface="Arial"/>
              </a:rPr>
              <a:t>CODE HERE</a:t>
            </a:r>
            <a:endParaRPr lang="en-US" sz="1800"/>
          </a:p>
        </p:txBody>
      </p:sp>
      <p:sp>
        <p:nvSpPr>
          <p:cNvPr id="16" name="Text 16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en-US" sz="1600" b="1">
                <a:solidFill>
                  <a:srgbClr val="E8F0FE"/>
                </a:solidFill>
                <a:latin typeface="Arial"/>
              </a:rPr>
              <a:t>Live project • Source code • Teacher-led demos • Portfolio outcome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P Dark">
  <a:themeElements>
    <a:clrScheme name="GCP">
      <a:dk1>
        <a:srgbClr val="081426"/>
      </a:dk1>
      <a:lt1>
        <a:srgbClr val="FFFFFF"/>
      </a:lt1>
      <a:dk2>
        <a:srgbClr val="152238"/>
      </a:dk2>
      <a:lt2>
        <a:srgbClr val="E8F0FE"/>
      </a:lt2>
      <a:accent1>
        <a:srgbClr val="4285F4"/>
      </a:accent1>
      <a:accent2>
        <a:srgbClr val="34A853"/>
      </a:accent2>
      <a:accent3>
        <a:srgbClr val="FBBC04"/>
      </a:accent3>
      <a:accent4>
        <a:srgbClr val="EA4335"/>
      </a:accent4>
      <a:accent5>
        <a:srgbClr val="27C5E8"/>
      </a:accent5>
      <a:accent6>
        <a:srgbClr val="AFC2D9"/>
      </a:accent6>
      <a:hlink>
        <a:srgbClr val="4285F4"/>
      </a:hlink>
      <a:folHlink>
        <a:srgbClr val="7B61FF"/>
      </a:folHlink>
    </a:clrScheme>
    <a:fontScheme name="Arial">
      <a:majorFont>
        <a:latin typeface="Arial"/>
      </a:majorFont>
      <a:minorFont>
        <a:latin typeface="Arial"/>
      </a:minorFont>
    </a:fontScheme>
    <a:fmtScheme name="GCP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PresentationFormat>Widescreen</PresentationFormat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GCP Travel Data Engineering Course</dc:title>
  <dc:subject>Student showcase and enrollment deck</dc:subject>
  <dc:creator>GCP Travel Data Ingestion Platform</dc:creator>
  <cp:keywords>GCP, Data Engineering, Cloud Run, BigQuery, Eventarc</cp:keywords>
  <dcterms:created xsi:type="dcterms:W3CDTF">2026-09-11T05:05:32Z</dcterms:created>
  <dcterms:modified xsi:type="dcterms:W3CDTF">2026-09-11T05:05:32Z</dcterms:modified>
</cp:coreProperties>
</file>